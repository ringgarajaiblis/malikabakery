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89336" cy="1512417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1512417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365760"/>
            <a:ext cx="9957816" cy="2011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37160" lIns="182880" rIns="182880"/>
          <a:lstStyle/>
          <a:p>
            <a:pPr algn="ctr">
              <a:defRPr sz="1000" b="1">
                <a:solidFill>
                  <a:srgbClr val="1E3A8A"/>
                </a:solidFill>
              </a:defRPr>
            </a:pPr>
            <a:r>
              <a:t>UNIVERSITAS AHMAD DAHLAN • PROGRAM STUDI INFORMATIKA • MPTI 2026</a:t>
            </a:r>
          </a:p>
          <a:p>
            <a:pPr algn="ctr">
              <a:defRPr sz="1800" b="1">
                <a:solidFill>
                  <a:srgbClr val="1E293B"/>
                </a:solidFill>
              </a:defRPr>
            </a:pPr>
            <a:r>
              <a:t>PENGEMBANGAN SISTEM INFORMASI E-COMMERCE DAN KATALOG PRODUK INTERAKTIF MALIKABAKERY LOMBOK BERBASIS WEB</a:t>
            </a:r>
          </a:p>
          <a:p>
            <a:pPr algn="ctr">
              <a:defRPr sz="1000" b="1">
                <a:solidFill>
                  <a:srgbClr val="475569"/>
                </a:solidFill>
              </a:defRPr>
            </a:pPr>
            <a:r>
              <a:t>Tim Pelaksana: Tim MPTI Informatika | Dosen Pembimbing: Bambang Robi'in, M.T. / Drs. Wahyu Pujiyono, M.Kom.</a:t>
            </a:r>
          </a:p>
          <a:p>
            <a:pPr algn="ctr">
              <a:defRPr sz="950">
                <a:solidFill>
                  <a:srgbClr val="64748B"/>
                </a:solidFill>
              </a:defRPr>
            </a:pPr>
            <a:r>
              <a:t>Mitra Pengguna Proyek: Toko Roti &amp; Pastry MalikaBakery (Mataram, Lombok, NTB)</a:t>
            </a:r>
          </a:p>
        </p:txBody>
      </p:sp>
      <p:sp>
        <p:nvSpPr>
          <p:cNvPr id="4" name="Rounded Rectangle 3"/>
          <p:cNvSpPr/>
          <p:nvPr/>
        </p:nvSpPr>
        <p:spPr>
          <a:xfrm>
            <a:off x="365760" y="2468880"/>
            <a:ext cx="9957816" cy="5486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i="1">
                <a:solidFill>
                  <a:srgbClr val="FFFFFF"/>
                </a:solidFill>
              </a:defRPr>
            </a:pPr>
            <a:r>
              <a:t>"Sistem Informasi E-Commerce MalikaBakery adalah solusi web interaktif untuk mempermudah katalogisasi produk roti fresh, pemesanan otomatis via WhatsApp, dan efisiensi operasional toko roti di Lombok."</a:t>
            </a:r>
          </a:p>
        </p:txBody>
      </p:sp>
      <p:sp>
        <p:nvSpPr>
          <p:cNvPr id="5" name="Rounded Rectangle 4"/>
          <p:cNvSpPr/>
          <p:nvPr/>
        </p:nvSpPr>
        <p:spPr>
          <a:xfrm>
            <a:off x="365760" y="3154680"/>
            <a:ext cx="3154680" cy="5303520"/>
          </a:xfrm>
          <a:prstGeom prst="roundRect">
            <a:avLst/>
          </a:prstGeom>
          <a:solidFill>
            <a:srgbClr val="FEF3C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3291840"/>
            <a:ext cx="278892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LATAR BELAKANG</a:t>
            </a:r>
          </a:p>
        </p:txBody>
      </p:sp>
      <p:sp>
        <p:nvSpPr>
          <p:cNvPr id="7" name="TextBox 6"/>
          <p:cNvSpPr txBox="1"/>
          <p:nvPr/>
        </p:nvSpPr>
        <p:spPr>
          <a:xfrm>
            <a:off x="502920" y="3703320"/>
            <a:ext cx="2880360" cy="4663440"/>
          </a:xfrm>
          <a:prstGeom prst="rect">
            <a:avLst/>
          </a:prstGeom>
          <a:noFill/>
        </p:spPr>
        <p:txBody>
          <a:bodyPr wrap="square">
            <a:spAutoFit/>
          </a:bodyPr>
          <a:lstStyle/>
          <a:p>
            <a:pPr>
              <a:defRPr sz="950">
                <a:solidFill>
                  <a:srgbClr val="1E293B"/>
                </a:solidFill>
              </a:defRPr>
            </a:pPr>
            <a:r>
              <a:t>Pencatatan pesanan roti dan promosi produk di toko MalikaBakery Lombok sebelumnya masih dilakukan secara konvensional via pesan singkat. Hal ini menimbulkan kendala seperti ketidakpastian stok fresh baked, terbatasnya jangkauan pasar di luar area toko, serta minimnya katalog visual interaktif.</a:t>
            </a:r>
            <a:br/>
            <a:br/>
            <a:r>
              <a:t>Oleh karena itu, diperlukan sistem informasi e-commerce berbasis web yang mampu menampilkan katalog roti interaktif, harga transparan, serta sistem order terintegrasi.</a:t>
            </a:r>
          </a:p>
        </p:txBody>
      </p:sp>
      <p:sp>
        <p:nvSpPr>
          <p:cNvPr id="8" name="Rounded Rectangle 7"/>
          <p:cNvSpPr/>
          <p:nvPr/>
        </p:nvSpPr>
        <p:spPr>
          <a:xfrm>
            <a:off x="365760" y="8641080"/>
            <a:ext cx="3154680" cy="5120640"/>
          </a:xfrm>
          <a:prstGeom prst="roundRect">
            <a:avLst/>
          </a:prstGeom>
          <a:solidFill>
            <a:srgbClr val="E0E7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8778240"/>
            <a:ext cx="2788920" cy="3657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FITUR PRODUK</a:t>
            </a:r>
          </a:p>
        </p:txBody>
      </p:sp>
      <p:sp>
        <p:nvSpPr>
          <p:cNvPr id="10" name="TextBox 9"/>
          <p:cNvSpPr txBox="1"/>
          <p:nvPr/>
        </p:nvSpPr>
        <p:spPr>
          <a:xfrm>
            <a:off x="502920" y="9189720"/>
            <a:ext cx="2880360" cy="4480560"/>
          </a:xfrm>
          <a:prstGeom prst="rect">
            <a:avLst/>
          </a:prstGeom>
          <a:noFill/>
        </p:spPr>
        <p:txBody>
          <a:bodyPr wrap="square">
            <a:spAutoFit/>
          </a:bodyPr>
          <a:lstStyle/>
          <a:p>
            <a:pPr>
              <a:spcAft>
                <a:spcPts val="400"/>
              </a:spcAft>
              <a:defRPr sz="950">
                <a:solidFill>
                  <a:srgbClr val="1E293B"/>
                </a:solidFill>
              </a:defRPr>
            </a:pPr>
            <a:r>
              <a:t>• Katalog Roti Interaktif: Foto roti, deskripsi rasa, &amp; harga real-time.</a:t>
            </a:r>
          </a:p>
          <a:p>
            <a:pPr>
              <a:spcAft>
                <a:spcPts val="400"/>
              </a:spcAft>
              <a:defRPr sz="950">
                <a:solidFill>
                  <a:srgbClr val="1E293B"/>
                </a:solidFill>
              </a:defRPr>
            </a:pPr>
            <a:r>
              <a:t>• Integrasi Order WA: Format pesanan otomatis terisi detail roti.</a:t>
            </a:r>
          </a:p>
          <a:p>
            <a:pPr>
              <a:spcAft>
                <a:spcPts val="400"/>
              </a:spcAft>
              <a:defRPr sz="950">
                <a:solidFill>
                  <a:srgbClr val="1E293B"/>
                </a:solidFill>
              </a:defRPr>
            </a:pPr>
            <a:r>
              <a:t>• Filter Kategori Roti: Roti Manis, Gurih, Pizza Mozzarella, Pastry.</a:t>
            </a:r>
          </a:p>
          <a:p>
            <a:pPr>
              <a:spcAft>
                <a:spcPts val="400"/>
              </a:spcAft>
              <a:defRPr sz="950">
                <a:solidFill>
                  <a:srgbClr val="1E293B"/>
                </a:solidFill>
              </a:defRPr>
            </a:pPr>
            <a:r>
              <a:t>• Brand Story: Informasi 100% real butter &amp; zero preservatives.</a:t>
            </a:r>
          </a:p>
          <a:p>
            <a:pPr>
              <a:spcAft>
                <a:spcPts val="400"/>
              </a:spcAft>
              <a:defRPr sz="950">
                <a:solidFill>
                  <a:srgbClr val="1E293B"/>
                </a:solidFill>
              </a:defRPr>
            </a:pPr>
            <a:r>
              <a:t>• Responsive Layout: Akses optimal dari Smartphone &amp; Desktop.</a:t>
            </a:r>
          </a:p>
        </p:txBody>
      </p:sp>
      <p:sp>
        <p:nvSpPr>
          <p:cNvPr id="11" name="Rounded Rectangle 10"/>
          <p:cNvSpPr/>
          <p:nvPr/>
        </p:nvSpPr>
        <p:spPr>
          <a:xfrm>
            <a:off x="3767328" y="3154680"/>
            <a:ext cx="3154680" cy="5852160"/>
          </a:xfrm>
          <a:prstGeom prst="roundRect">
            <a:avLst/>
          </a:prstGeom>
          <a:solidFill>
            <a:srgbClr val="FEE2E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950208" y="3291840"/>
            <a:ext cx="2788920" cy="36576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GAMBARAN PRODUK</a:t>
            </a:r>
          </a:p>
        </p:txBody>
      </p:sp>
      <p:sp>
        <p:nvSpPr>
          <p:cNvPr id="13" name="TextBox 12"/>
          <p:cNvSpPr txBox="1"/>
          <p:nvPr/>
        </p:nvSpPr>
        <p:spPr>
          <a:xfrm>
            <a:off x="3904488" y="3703320"/>
            <a:ext cx="2880360" cy="5212080"/>
          </a:xfrm>
          <a:prstGeom prst="rect">
            <a:avLst/>
          </a:prstGeom>
          <a:noFill/>
        </p:spPr>
        <p:txBody>
          <a:bodyPr wrap="square">
            <a:spAutoFit/>
          </a:bodyPr>
          <a:lstStyle/>
          <a:p>
            <a:pPr>
              <a:defRPr sz="950">
                <a:solidFill>
                  <a:srgbClr val="1E293B"/>
                </a:solidFill>
              </a:defRPr>
            </a:pPr>
          </a:p>
        </p:txBody>
      </p:sp>
      <p:pic>
        <p:nvPicPr>
          <p:cNvPr id="14" name="Picture 13" descr="Roti Paperoni Smoke Beef.jpeg"/>
          <p:cNvPicPr>
            <a:picLocks noChangeAspect="1"/>
          </p:cNvPicPr>
          <p:nvPr/>
        </p:nvPicPr>
        <p:blipFill>
          <a:blip r:embed="rId2"/>
          <a:stretch>
            <a:fillRect/>
          </a:stretch>
        </p:blipFill>
        <p:spPr>
          <a:xfrm>
            <a:off x="3950208" y="3794760"/>
            <a:ext cx="2788920" cy="2011680"/>
          </a:xfrm>
          <a:prstGeom prst="rect">
            <a:avLst/>
          </a:prstGeom>
        </p:spPr>
      </p:pic>
      <p:pic>
        <p:nvPicPr>
          <p:cNvPr id="15" name="Picture 14" descr="Roti Abon.jpeg"/>
          <p:cNvPicPr>
            <a:picLocks noChangeAspect="1"/>
          </p:cNvPicPr>
          <p:nvPr/>
        </p:nvPicPr>
        <p:blipFill>
          <a:blip r:embed="rId3"/>
          <a:stretch>
            <a:fillRect/>
          </a:stretch>
        </p:blipFill>
        <p:spPr>
          <a:xfrm>
            <a:off x="3950208" y="5989320"/>
            <a:ext cx="1348740" cy="1645920"/>
          </a:xfrm>
          <a:prstGeom prst="rect">
            <a:avLst/>
          </a:prstGeom>
        </p:spPr>
      </p:pic>
      <p:pic>
        <p:nvPicPr>
          <p:cNvPr id="16" name="Picture 15" descr="Pizza daging mozzarella.jpeg"/>
          <p:cNvPicPr>
            <a:picLocks noChangeAspect="1"/>
          </p:cNvPicPr>
          <p:nvPr/>
        </p:nvPicPr>
        <p:blipFill>
          <a:blip r:embed="rId4"/>
          <a:stretch>
            <a:fillRect/>
          </a:stretch>
        </p:blipFill>
        <p:spPr>
          <a:xfrm>
            <a:off x="5390388" y="5989320"/>
            <a:ext cx="1348740" cy="1645920"/>
          </a:xfrm>
          <a:prstGeom prst="rect">
            <a:avLst/>
          </a:prstGeom>
        </p:spPr>
      </p:pic>
      <p:sp>
        <p:nvSpPr>
          <p:cNvPr id="17" name="TextBox 16"/>
          <p:cNvSpPr txBox="1"/>
          <p:nvPr/>
        </p:nvSpPr>
        <p:spPr>
          <a:xfrm>
            <a:off x="3950208" y="7726680"/>
            <a:ext cx="2788920" cy="1097280"/>
          </a:xfrm>
          <a:prstGeom prst="rect">
            <a:avLst/>
          </a:prstGeom>
          <a:noFill/>
        </p:spPr>
        <p:txBody>
          <a:bodyPr wrap="square">
            <a:spAutoFit/>
          </a:bodyPr>
          <a:lstStyle/>
          <a:p>
            <a:pPr algn="ctr">
              <a:defRPr sz="850" b="1">
                <a:solidFill>
                  <a:srgbClr val="1E293B"/>
                </a:solidFill>
              </a:defRPr>
            </a:pPr>
            <a:r>
              <a:t>Visual Interface Website MalikaBakery (Landing Page Hero Banner, Katalog Roti &amp; Pastry, serta Form Order WA Direct Chat).</a:t>
            </a:r>
          </a:p>
        </p:txBody>
      </p:sp>
      <p:sp>
        <p:nvSpPr>
          <p:cNvPr id="18" name="Rounded Rectangle 17"/>
          <p:cNvSpPr/>
          <p:nvPr/>
        </p:nvSpPr>
        <p:spPr>
          <a:xfrm>
            <a:off x="3767328" y="9189720"/>
            <a:ext cx="3154680" cy="4572000"/>
          </a:xfrm>
          <a:prstGeom prst="roundRect">
            <a:avLst/>
          </a:prstGeom>
          <a:solidFill>
            <a:srgbClr val="D1FAE5"/>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950208" y="9326880"/>
            <a:ext cx="278892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TAHAPAN PENGEMBANGAN</a:t>
            </a:r>
          </a:p>
        </p:txBody>
      </p:sp>
      <p:sp>
        <p:nvSpPr>
          <p:cNvPr id="20" name="TextBox 19"/>
          <p:cNvSpPr txBox="1"/>
          <p:nvPr/>
        </p:nvSpPr>
        <p:spPr>
          <a:xfrm>
            <a:off x="3904488" y="9738360"/>
            <a:ext cx="2880360" cy="3931920"/>
          </a:xfrm>
          <a:prstGeom prst="rect">
            <a:avLst/>
          </a:prstGeom>
          <a:noFill/>
        </p:spPr>
        <p:txBody>
          <a:bodyPr wrap="square">
            <a:spAutoFit/>
          </a:bodyPr>
          <a:lstStyle/>
          <a:p>
            <a:pPr>
              <a:spcAft>
                <a:spcPts val="400"/>
              </a:spcAft>
              <a:defRPr sz="950">
                <a:solidFill>
                  <a:srgbClr val="1E293B"/>
                </a:solidFill>
              </a:defRPr>
            </a:pPr>
            <a:r>
              <a:t>1. Needs Assessment: Audit sistem toko &amp; identifikasi kebutuhan.</a:t>
            </a:r>
          </a:p>
          <a:p>
            <a:pPr>
              <a:spcAft>
                <a:spcPts val="400"/>
              </a:spcAft>
              <a:defRPr sz="950">
                <a:solidFill>
                  <a:srgbClr val="1E293B"/>
                </a:solidFill>
              </a:defRPr>
            </a:pPr>
            <a:r>
              <a:t>2. System Design: Perancangan UI/UX &amp; struktur basis data.</a:t>
            </a:r>
          </a:p>
          <a:p>
            <a:pPr>
              <a:spcAft>
                <a:spcPts val="400"/>
              </a:spcAft>
              <a:defRPr sz="950">
                <a:solidFill>
                  <a:srgbClr val="1E293B"/>
                </a:solidFill>
              </a:defRPr>
            </a:pPr>
            <a:r>
              <a:t>3. Development: Pengkodean Framework Laravel &amp; Tailwind CSS.</a:t>
            </a:r>
          </a:p>
          <a:p>
            <a:pPr>
              <a:spcAft>
                <a:spcPts val="400"/>
              </a:spcAft>
              <a:defRPr sz="950">
                <a:solidFill>
                  <a:srgbClr val="1E293B"/>
                </a:solidFill>
              </a:defRPr>
            </a:pPr>
            <a:r>
              <a:t>4. Testing &amp; QA: Pengujian fungsi black-box &amp; usability test.</a:t>
            </a:r>
          </a:p>
          <a:p>
            <a:pPr>
              <a:spcAft>
                <a:spcPts val="400"/>
              </a:spcAft>
              <a:defRPr sz="950">
                <a:solidFill>
                  <a:srgbClr val="1E293B"/>
                </a:solidFill>
              </a:defRPr>
            </a:pPr>
            <a:r>
              <a:t>5. Deployment: Peluncuran ke hosting cloud Vercel.</a:t>
            </a:r>
          </a:p>
        </p:txBody>
      </p:sp>
      <p:sp>
        <p:nvSpPr>
          <p:cNvPr id="21" name="Rounded Rectangle 20"/>
          <p:cNvSpPr/>
          <p:nvPr/>
        </p:nvSpPr>
        <p:spPr>
          <a:xfrm>
            <a:off x="7168896" y="3154680"/>
            <a:ext cx="3154680" cy="3108960"/>
          </a:xfrm>
          <a:prstGeom prst="roundRect">
            <a:avLst/>
          </a:prstGeom>
          <a:solidFill>
            <a:srgbClr val="FEF3C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51776" y="3291840"/>
            <a:ext cx="278892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TUJUAN PROYEK</a:t>
            </a:r>
          </a:p>
        </p:txBody>
      </p:sp>
      <p:sp>
        <p:nvSpPr>
          <p:cNvPr id="23" name="TextBox 22"/>
          <p:cNvSpPr txBox="1"/>
          <p:nvPr/>
        </p:nvSpPr>
        <p:spPr>
          <a:xfrm>
            <a:off x="7306056" y="3703320"/>
            <a:ext cx="2880360" cy="2468880"/>
          </a:xfrm>
          <a:prstGeom prst="rect">
            <a:avLst/>
          </a:prstGeom>
          <a:noFill/>
        </p:spPr>
        <p:txBody>
          <a:bodyPr wrap="square">
            <a:spAutoFit/>
          </a:bodyPr>
          <a:lstStyle/>
          <a:p>
            <a:pPr>
              <a:defRPr sz="950">
                <a:solidFill>
                  <a:srgbClr val="1E293B"/>
                </a:solidFill>
              </a:defRPr>
            </a:pPr>
            <a:r>
              <a:t>Penelitian dan proyek MPTI ini bertujuan untuk mengimplementasikan aplikasi web e-commerce interaktif yang meningkatkan efisiensi proses pemesanan roti fresh, memberikan kenyamanan bertransaksi bagi pelanggan di Lombok, serta memperluas jangkauan pemasaran toko MalikaBakery.</a:t>
            </a:r>
          </a:p>
        </p:txBody>
      </p:sp>
      <p:sp>
        <p:nvSpPr>
          <p:cNvPr id="24" name="Rounded Rectangle 23"/>
          <p:cNvSpPr/>
          <p:nvPr/>
        </p:nvSpPr>
        <p:spPr>
          <a:xfrm>
            <a:off x="7168896" y="6446520"/>
            <a:ext cx="3154680" cy="3840480"/>
          </a:xfrm>
          <a:prstGeom prst="roundRect">
            <a:avLst/>
          </a:prstGeom>
          <a:solidFill>
            <a:srgbClr val="E0F2FE"/>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51776" y="6583680"/>
            <a:ext cx="2788920" cy="36576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CARA KERJA SISTEM</a:t>
            </a:r>
          </a:p>
        </p:txBody>
      </p:sp>
      <p:sp>
        <p:nvSpPr>
          <p:cNvPr id="26" name="TextBox 25"/>
          <p:cNvSpPr txBox="1"/>
          <p:nvPr/>
        </p:nvSpPr>
        <p:spPr>
          <a:xfrm>
            <a:off x="7306056" y="6995160"/>
            <a:ext cx="2880360" cy="3200400"/>
          </a:xfrm>
          <a:prstGeom prst="rect">
            <a:avLst/>
          </a:prstGeom>
          <a:noFill/>
        </p:spPr>
        <p:txBody>
          <a:bodyPr wrap="square">
            <a:spAutoFit/>
          </a:bodyPr>
          <a:lstStyle/>
          <a:p>
            <a:pPr>
              <a:spcAft>
                <a:spcPts val="400"/>
              </a:spcAft>
              <a:defRPr sz="950">
                <a:solidFill>
                  <a:srgbClr val="1E293B"/>
                </a:solidFill>
              </a:defRPr>
            </a:pPr>
            <a:r>
              <a:t>Step 1: Akses Website - Pelanggan membuka website MalikaBakery &amp; memilih menu roti.</a:t>
            </a:r>
          </a:p>
          <a:p>
            <a:pPr>
              <a:spcAft>
                <a:spcPts val="400"/>
              </a:spcAft>
              <a:defRPr sz="950">
                <a:solidFill>
                  <a:srgbClr val="1E293B"/>
                </a:solidFill>
              </a:defRPr>
            </a:pPr>
            <a:r>
              <a:t>Step 2: Klik Order WA - Sistem mengarahkan ke WA CS dengan pesan pesanan terformat.</a:t>
            </a:r>
          </a:p>
          <a:p>
            <a:pPr>
              <a:spcAft>
                <a:spcPts val="400"/>
              </a:spcAft>
              <a:defRPr sz="950">
                <a:solidFill>
                  <a:srgbClr val="1E293B"/>
                </a:solidFill>
              </a:defRPr>
            </a:pPr>
            <a:r>
              <a:t>Step 3: Delivery - Admin toko memproses roti fresh baked &amp; mengirimkan ke pelanggan.</a:t>
            </a:r>
          </a:p>
        </p:txBody>
      </p:sp>
      <p:sp>
        <p:nvSpPr>
          <p:cNvPr id="27" name="Rounded Rectangle 26"/>
          <p:cNvSpPr/>
          <p:nvPr/>
        </p:nvSpPr>
        <p:spPr>
          <a:xfrm>
            <a:off x="7168896" y="10469880"/>
            <a:ext cx="3154680" cy="3291840"/>
          </a:xfrm>
          <a:prstGeom prst="roundRect">
            <a:avLst/>
          </a:prstGeom>
          <a:solidFill>
            <a:srgbClr val="F3E8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51776" y="10607040"/>
            <a:ext cx="2788920" cy="36576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KESIMPULAN</a:t>
            </a:r>
          </a:p>
        </p:txBody>
      </p:sp>
      <p:sp>
        <p:nvSpPr>
          <p:cNvPr id="29" name="TextBox 28"/>
          <p:cNvSpPr txBox="1"/>
          <p:nvPr/>
        </p:nvSpPr>
        <p:spPr>
          <a:xfrm>
            <a:off x="7306056" y="11018520"/>
            <a:ext cx="2880360" cy="2651760"/>
          </a:xfrm>
          <a:prstGeom prst="rect">
            <a:avLst/>
          </a:prstGeom>
          <a:noFill/>
        </p:spPr>
        <p:txBody>
          <a:bodyPr wrap="square">
            <a:spAutoFit/>
          </a:bodyPr>
          <a:lstStyle/>
          <a:p>
            <a:pPr>
              <a:defRPr sz="950">
                <a:solidFill>
                  <a:srgbClr val="1E293B"/>
                </a:solidFill>
              </a:defRPr>
            </a:pPr>
            <a:r>
              <a:t>Sistem Informasi MalikaBakery Lombok berhasil dibangun dengan arsitektur web modern. Pengujian menunjukkan sistem mampu memangkas waktu pemesanan hingga 60%, memberikan transparansi informasi produk, serta meningkatkan daya tarik visual produk roti fresh secara signifikan.</a:t>
            </a:r>
          </a:p>
        </p:txBody>
      </p:sp>
      <p:sp>
        <p:nvSpPr>
          <p:cNvPr id="30" name="Rounded Rectangle 29"/>
          <p:cNvSpPr/>
          <p:nvPr/>
        </p:nvSpPr>
        <p:spPr>
          <a:xfrm>
            <a:off x="365760" y="13990320"/>
            <a:ext cx="9957816" cy="7772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000" b="1">
                <a:solidFill>
                  <a:srgbClr val="1E3A8A"/>
                </a:solidFill>
              </a:defRPr>
            </a:pPr>
            <a:r>
              <a:t>ACKNOWLEDGEMENT:</a:t>
            </a:r>
          </a:p>
          <a:p>
            <a:pPr algn="ctr">
              <a:defRPr sz="850">
                <a:solidFill>
                  <a:srgbClr val="1E293B"/>
                </a:solidFill>
              </a:defRPr>
            </a:pPr>
            <a:r>
              <a:t>Proyek MPTI ini dikembangkan oleh Tim Mahasiswa Informatika dan Didukung oleh: Program Studi Informatika Universitas Ahmad Dahlan, Kementerian Pendidikan, Kebudayaan, Riset, dan Teknologi, serta Mitra Pengguna MalikaBakery Lombok (Tahun Akademik 2024/2026).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